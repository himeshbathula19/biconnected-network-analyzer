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7682" y="1711015"/>
            <a:ext cx="8018780" cy="521639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spcBef>
                <a:spcPts val="67"/>
              </a:spcBef>
            </a:pPr>
            <a:r>
              <a:rPr sz="3334" spc="-13" dirty="0">
                <a:latin typeface="Source Sans Pro"/>
                <a:cs typeface="Source Sans Pro"/>
              </a:rPr>
              <a:t>BICONNECTED</a:t>
            </a:r>
            <a:r>
              <a:rPr sz="3334" spc="-73" dirty="0">
                <a:latin typeface="Source Sans Pro"/>
                <a:cs typeface="Source Sans Pro"/>
              </a:rPr>
              <a:t> </a:t>
            </a:r>
            <a:r>
              <a:rPr sz="3334" dirty="0">
                <a:latin typeface="Source Sans Pro"/>
                <a:cs typeface="Source Sans Pro"/>
              </a:rPr>
              <a:t>NETWORK</a:t>
            </a:r>
            <a:r>
              <a:rPr sz="3334" spc="-70" dirty="0">
                <a:latin typeface="Source Sans Pro"/>
                <a:cs typeface="Source Sans Pro"/>
              </a:rPr>
              <a:t> </a:t>
            </a:r>
            <a:r>
              <a:rPr sz="3334" spc="-43" dirty="0">
                <a:latin typeface="Source Sans Pro"/>
                <a:cs typeface="Source Sans Pro"/>
              </a:rPr>
              <a:t>ANALYZER:</a:t>
            </a:r>
            <a:r>
              <a:rPr sz="3334" spc="-70" dirty="0">
                <a:latin typeface="Source Sans Pro"/>
                <a:cs typeface="Source Sans Pro"/>
              </a:rPr>
              <a:t> </a:t>
            </a:r>
            <a:r>
              <a:rPr sz="3334" dirty="0">
                <a:latin typeface="Source Sans Pro"/>
                <a:cs typeface="Source Sans Pro"/>
              </a:rPr>
              <a:t>A</a:t>
            </a:r>
            <a:r>
              <a:rPr sz="3334" spc="-70" dirty="0">
                <a:latin typeface="Source Sans Pro"/>
                <a:cs typeface="Source Sans Pro"/>
              </a:rPr>
              <a:t> </a:t>
            </a:r>
            <a:r>
              <a:rPr sz="3334" spc="-7" dirty="0">
                <a:latin typeface="Source Sans Pro"/>
                <a:cs typeface="Source Sans Pro"/>
              </a:rPr>
              <a:t>GUIDE</a:t>
            </a:r>
            <a:endParaRPr sz="3334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4675" y="2194832"/>
            <a:ext cx="7197937" cy="1786152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19368">
              <a:spcBef>
                <a:spcPts val="67"/>
              </a:spcBef>
            </a:pP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Empowering</a:t>
            </a:r>
            <a:r>
              <a:rPr sz="2067" b="1" spc="-53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Network</a:t>
            </a:r>
            <a:r>
              <a:rPr sz="2067" b="1" spc="-50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Engineers</a:t>
            </a:r>
            <a:r>
              <a:rPr sz="2067" b="1" spc="-50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with</a:t>
            </a:r>
            <a:r>
              <a:rPr sz="2067" b="1" spc="-53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Robust</a:t>
            </a:r>
            <a:r>
              <a:rPr sz="2067" b="1" spc="-50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spc="-7" dirty="0">
                <a:solidFill>
                  <a:srgbClr val="7452E7"/>
                </a:solidFill>
                <a:latin typeface="NeuzeitGro"/>
                <a:cs typeface="NeuzeitGro"/>
              </a:rPr>
              <a:t>Analysis</a:t>
            </a:r>
            <a:endParaRPr sz="2067">
              <a:latin typeface="NeuzeitGro"/>
              <a:cs typeface="NeuzeitGro"/>
            </a:endParaRPr>
          </a:p>
          <a:p>
            <a:pPr algn="ctr">
              <a:spcBef>
                <a:spcPts val="1467"/>
              </a:spcBef>
            </a:pPr>
            <a:r>
              <a:rPr sz="1667" dirty="0">
                <a:latin typeface="Adelle"/>
                <a:cs typeface="Adelle"/>
              </a:rPr>
              <a:t>TEAM </a:t>
            </a:r>
            <a:r>
              <a:rPr sz="1667" spc="-7" dirty="0">
                <a:latin typeface="Adelle"/>
                <a:cs typeface="Adelle"/>
              </a:rPr>
              <a:t>MEMBERS</a:t>
            </a:r>
            <a:endParaRPr sz="1667">
              <a:latin typeface="Adelle"/>
              <a:cs typeface="Adelle"/>
            </a:endParaRPr>
          </a:p>
          <a:p>
            <a:pPr marL="212947">
              <a:spcBef>
                <a:spcPts val="1207"/>
              </a:spcBef>
              <a:tabLst>
                <a:tab pos="4166232" algn="l"/>
              </a:tabLst>
            </a:pPr>
            <a:r>
              <a:rPr sz="1867" dirty="0">
                <a:latin typeface="NeuzeitGro"/>
                <a:cs typeface="NeuzeitGro"/>
              </a:rPr>
              <a:t>HIMESH</a:t>
            </a:r>
            <a:r>
              <a:rPr sz="1867" spc="113" dirty="0">
                <a:latin typeface="NeuzeitGro"/>
                <a:cs typeface="NeuzeitGro"/>
              </a:rPr>
              <a:t> </a:t>
            </a:r>
            <a:r>
              <a:rPr sz="1867" dirty="0">
                <a:latin typeface="NeuzeitGro"/>
                <a:cs typeface="NeuzeitGro"/>
              </a:rPr>
              <a:t>BATHULA-</a:t>
            </a:r>
            <a:r>
              <a:rPr sz="1867" spc="-7" dirty="0">
                <a:latin typeface="NeuzeitGro"/>
                <a:cs typeface="NeuzeitGro"/>
              </a:rPr>
              <a:t>25MVCSMR0286</a:t>
            </a:r>
            <a:r>
              <a:rPr sz="1867" dirty="0">
                <a:latin typeface="NeuzeitGro"/>
                <a:cs typeface="NeuzeitGro"/>
              </a:rPr>
              <a:t>	-</a:t>
            </a:r>
            <a:r>
              <a:rPr sz="1867" spc="-3" dirty="0">
                <a:latin typeface="NeuzeitGro"/>
                <a:cs typeface="NeuzeitGro"/>
              </a:rPr>
              <a:t> </a:t>
            </a:r>
            <a:r>
              <a:rPr sz="1867" dirty="0">
                <a:latin typeface="NeuzeitGro"/>
                <a:cs typeface="NeuzeitGro"/>
              </a:rPr>
              <a:t>ALGORITHM </a:t>
            </a:r>
            <a:r>
              <a:rPr sz="1867" spc="-13" dirty="0">
                <a:latin typeface="NeuzeitGro"/>
                <a:cs typeface="NeuzeitGro"/>
              </a:rPr>
              <a:t>LEAD</a:t>
            </a:r>
            <a:endParaRPr sz="1867">
              <a:latin typeface="NeuzeitGro"/>
              <a:cs typeface="NeuzeitGro"/>
            </a:endParaRPr>
          </a:p>
          <a:p>
            <a:pPr>
              <a:spcBef>
                <a:spcPts val="33"/>
              </a:spcBef>
            </a:pPr>
            <a:endParaRPr sz="1867">
              <a:latin typeface="NeuzeitGro"/>
              <a:cs typeface="NeuzeitGro"/>
            </a:endParaRPr>
          </a:p>
          <a:p>
            <a:pPr algn="ctr">
              <a:tabLst>
                <a:tab pos="4009590" algn="l"/>
              </a:tabLst>
            </a:pPr>
            <a:r>
              <a:rPr sz="1833" dirty="0">
                <a:latin typeface="NeuzeitGro"/>
                <a:cs typeface="NeuzeitGro"/>
              </a:rPr>
              <a:t>MAREEDU</a:t>
            </a:r>
            <a:r>
              <a:rPr sz="1833" spc="-57" dirty="0">
                <a:latin typeface="NeuzeitGro"/>
                <a:cs typeface="NeuzeitGro"/>
              </a:rPr>
              <a:t> </a:t>
            </a:r>
            <a:r>
              <a:rPr sz="1833" spc="-7" dirty="0">
                <a:latin typeface="NeuzeitGro"/>
                <a:cs typeface="NeuzeitGro"/>
              </a:rPr>
              <a:t>RAKSHIT-25MVCSMR0326</a:t>
            </a:r>
            <a:r>
              <a:rPr sz="1833" dirty="0">
                <a:latin typeface="NeuzeitGro"/>
                <a:cs typeface="NeuzeitGro"/>
              </a:rPr>
              <a:t>	-</a:t>
            </a:r>
            <a:r>
              <a:rPr sz="1833" spc="-10" dirty="0">
                <a:latin typeface="NeuzeitGro"/>
                <a:cs typeface="NeuzeitGro"/>
              </a:rPr>
              <a:t>  </a:t>
            </a:r>
            <a:r>
              <a:rPr sz="1833" dirty="0">
                <a:latin typeface="NeuzeitGro"/>
                <a:cs typeface="NeuzeitGro"/>
              </a:rPr>
              <a:t>STREAMLIT</a:t>
            </a:r>
            <a:r>
              <a:rPr sz="1833" spc="-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UI/</a:t>
            </a:r>
            <a:r>
              <a:rPr sz="1833" spc="-10" dirty="0">
                <a:latin typeface="NeuzeitGro"/>
                <a:cs typeface="NeuzeitGro"/>
              </a:rPr>
              <a:t> </a:t>
            </a:r>
            <a:r>
              <a:rPr sz="1833" spc="-7" dirty="0">
                <a:latin typeface="NeuzeitGro"/>
                <a:cs typeface="NeuzeitGro"/>
              </a:rPr>
              <a:t>VISUALIZATION</a:t>
            </a:r>
            <a:endParaRPr sz="1833">
              <a:latin typeface="NeuzeitGro"/>
              <a:cs typeface="NeuzeitGr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4675" y="4405796"/>
            <a:ext cx="3653790" cy="277362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8467">
              <a:spcBef>
                <a:spcPts val="83"/>
              </a:spcBef>
            </a:pPr>
            <a:r>
              <a:rPr sz="1733" dirty="0">
                <a:latin typeface="NeuzeitGro"/>
                <a:cs typeface="NeuzeitGro"/>
              </a:rPr>
              <a:t>MOOLA</a:t>
            </a:r>
            <a:r>
              <a:rPr sz="1733" spc="230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OMPRAKASH-</a:t>
            </a:r>
            <a:r>
              <a:rPr sz="1733" spc="-7" dirty="0">
                <a:latin typeface="NeuzeitGro"/>
                <a:cs typeface="NeuzeitGro"/>
              </a:rPr>
              <a:t>25MVCSMR0331</a:t>
            </a:r>
            <a:endParaRPr sz="1733">
              <a:latin typeface="NeuzeitGro"/>
              <a:cs typeface="NeuzeitGr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67878" y="4405796"/>
            <a:ext cx="2881630" cy="277362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8467">
              <a:spcBef>
                <a:spcPts val="83"/>
              </a:spcBef>
            </a:pPr>
            <a:r>
              <a:rPr sz="1733" dirty="0">
                <a:latin typeface="NeuzeitGro"/>
                <a:cs typeface="NeuzeitGro"/>
              </a:rPr>
              <a:t>-</a:t>
            </a:r>
            <a:r>
              <a:rPr sz="1733" spc="10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TESTING</a:t>
            </a:r>
            <a:r>
              <a:rPr sz="1733" spc="13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&amp;</a:t>
            </a:r>
            <a:r>
              <a:rPr sz="1733" spc="10" dirty="0">
                <a:latin typeface="NeuzeitGro"/>
                <a:cs typeface="NeuzeitGro"/>
              </a:rPr>
              <a:t> </a:t>
            </a:r>
            <a:r>
              <a:rPr sz="1733" spc="-7" dirty="0">
                <a:latin typeface="NeuzeitGro"/>
                <a:cs typeface="NeuzeitGro"/>
              </a:rPr>
              <a:t>DOCUMENTATION</a:t>
            </a:r>
            <a:endParaRPr sz="1733">
              <a:latin typeface="NeuzeitGro"/>
              <a:cs typeface="NeuzeitGr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224" y="6010263"/>
            <a:ext cx="11136629" cy="36505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2300" dirty="0">
                <a:latin typeface="NeuzeitGro"/>
                <a:cs typeface="NeuzeitGro"/>
              </a:rPr>
              <a:t>PROBLEM</a:t>
            </a:r>
            <a:r>
              <a:rPr sz="2300" spc="7" dirty="0">
                <a:latin typeface="NeuzeitGro"/>
                <a:cs typeface="NeuzeitGro"/>
              </a:rPr>
              <a:t> </a:t>
            </a:r>
            <a:r>
              <a:rPr sz="2300" dirty="0">
                <a:latin typeface="NeuzeitGro"/>
                <a:cs typeface="NeuzeitGro"/>
              </a:rPr>
              <a:t>DOMAIN</a:t>
            </a:r>
            <a:r>
              <a:rPr sz="2300" spc="13" dirty="0">
                <a:latin typeface="NeuzeitGro"/>
                <a:cs typeface="NeuzeitGro"/>
              </a:rPr>
              <a:t> </a:t>
            </a:r>
            <a:r>
              <a:rPr sz="2300" b="1" dirty="0">
                <a:latin typeface="NeuzeitGro"/>
                <a:cs typeface="NeuzeitGro"/>
              </a:rPr>
              <a:t>:</a:t>
            </a:r>
            <a:r>
              <a:rPr sz="2300" b="1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Graph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theory</a:t>
            </a:r>
            <a:r>
              <a:rPr sz="1833" spc="17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,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Network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Resilience,</a:t>
            </a:r>
            <a:r>
              <a:rPr sz="1833" spc="17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Communication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Networks,</a:t>
            </a:r>
            <a:r>
              <a:rPr sz="1833" spc="17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DFS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-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based</a:t>
            </a:r>
            <a:r>
              <a:rPr sz="1833" spc="17" dirty="0">
                <a:latin typeface="NeuzeitGro"/>
                <a:cs typeface="NeuzeitGro"/>
              </a:rPr>
              <a:t> </a:t>
            </a:r>
            <a:r>
              <a:rPr sz="1833" spc="-7" dirty="0">
                <a:latin typeface="NeuzeitGro"/>
                <a:cs typeface="NeuzeitGro"/>
              </a:rPr>
              <a:t>Algorithms</a:t>
            </a:r>
            <a:endParaRPr sz="1833">
              <a:latin typeface="NeuzeitGro"/>
              <a:cs typeface="NeuzeitG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9525" y="5035530"/>
            <a:ext cx="3799840" cy="276507"/>
          </a:xfrm>
          <a:prstGeom prst="rect">
            <a:avLst/>
          </a:prstGeom>
        </p:spPr>
        <p:txBody>
          <a:bodyPr vert="horz" wrap="square" lIns="0" tIns="9736" rIns="0" bIns="0" rtlCol="0">
            <a:spAutoFit/>
          </a:bodyPr>
          <a:lstStyle/>
          <a:p>
            <a:pPr marL="8467">
              <a:spcBef>
                <a:spcPts val="76"/>
              </a:spcBef>
            </a:pPr>
            <a:r>
              <a:rPr sz="1733" dirty="0">
                <a:latin typeface="NeuzeitGro"/>
                <a:cs typeface="NeuzeitGro"/>
              </a:rPr>
              <a:t>SANJEET</a:t>
            </a:r>
            <a:r>
              <a:rPr sz="1733" spc="23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KUMAR</a:t>
            </a:r>
            <a:r>
              <a:rPr sz="1733" spc="30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DOLAI-</a:t>
            </a:r>
            <a:r>
              <a:rPr sz="1733" spc="-7" dirty="0">
                <a:latin typeface="NeuzeitGro"/>
                <a:cs typeface="NeuzeitGro"/>
              </a:rPr>
              <a:t>25MVCSMR0354</a:t>
            </a:r>
            <a:endParaRPr sz="1733">
              <a:latin typeface="NeuzeitGro"/>
              <a:cs typeface="NeuzeitG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8071" y="5035530"/>
            <a:ext cx="2371936" cy="276507"/>
          </a:xfrm>
          <a:prstGeom prst="rect">
            <a:avLst/>
          </a:prstGeom>
        </p:spPr>
        <p:txBody>
          <a:bodyPr vert="horz" wrap="square" lIns="0" tIns="9736" rIns="0" bIns="0" rtlCol="0">
            <a:spAutoFit/>
          </a:bodyPr>
          <a:lstStyle/>
          <a:p>
            <a:pPr marL="8467">
              <a:spcBef>
                <a:spcPts val="76"/>
              </a:spcBef>
            </a:pPr>
            <a:r>
              <a:rPr sz="1733" dirty="0">
                <a:latin typeface="NeuzeitGro"/>
                <a:cs typeface="NeuzeitGro"/>
              </a:rPr>
              <a:t>-</a:t>
            </a:r>
            <a:r>
              <a:rPr sz="1733" spc="-23" dirty="0">
                <a:latin typeface="NeuzeitGro"/>
                <a:cs typeface="NeuzeitGro"/>
              </a:rPr>
              <a:t> </a:t>
            </a:r>
            <a:r>
              <a:rPr sz="1733" spc="-13" dirty="0">
                <a:latin typeface="NeuzeitGro"/>
                <a:cs typeface="NeuzeitGro"/>
              </a:rPr>
              <a:t>PRESENTATION</a:t>
            </a:r>
            <a:r>
              <a:rPr sz="1733" spc="-23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&amp;</a:t>
            </a:r>
            <a:r>
              <a:rPr sz="1733" spc="-20" dirty="0">
                <a:latin typeface="NeuzeitGro"/>
                <a:cs typeface="NeuzeitGro"/>
              </a:rPr>
              <a:t> </a:t>
            </a:r>
            <a:r>
              <a:rPr sz="1733" spc="-13" dirty="0">
                <a:latin typeface="NeuzeitGro"/>
                <a:cs typeface="NeuzeitGro"/>
              </a:rPr>
              <a:t>DEMO</a:t>
            </a:r>
            <a:endParaRPr sz="1733">
              <a:latin typeface="NeuzeitGro"/>
              <a:cs typeface="NeuzeitGr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217" y="76201"/>
            <a:ext cx="11752783" cy="1343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APSH 2026 PROJECT PRESENTATION  •  TEAM 06</a:t>
            </a:r>
          </a:p>
          <a:p>
            <a:pPr>
              <a:spcAft>
                <a:spcPts val="1200"/>
              </a:spcAft>
              <a:defRPr sz="4200" b="1">
                <a:solidFill>
                  <a:srgbClr val="18181B"/>
                </a:solidFill>
                <a:latin typeface="Georgia"/>
              </a:defRPr>
            </a:pPr>
            <a:r>
              <a:t>Biconnected Network Analyzer</a:t>
            </a:r>
          </a:p>
          <a:p>
            <a:pPr>
              <a:defRPr sz="2000">
                <a:solidFill>
                  <a:srgbClr val="71717A"/>
                </a:solidFill>
                <a:latin typeface="Arial"/>
              </a:defRPr>
            </a:pPr>
            <a:r>
              <a:t>Graph Intelligence for Communication Infrastructure Resilience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91840"/>
            <a:ext cx="10728655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CENTRAL IDEA &amp; PURPOSE</a:t>
            </a:r>
          </a:p>
          <a:p>
            <a:pPr>
              <a:defRPr sz="1500">
                <a:solidFill>
                  <a:srgbClr val="18181B"/>
                </a:solidFill>
                <a:latin typeface="Arial"/>
              </a:defRPr>
            </a:pPr>
            <a:r>
              <a:t>An algorithmic modeling and visualization system that evaluates network topology robustness by detecting articulation points (critical single points of failure) and partitioning infrastructure into biconnected components.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663440"/>
            <a:ext cx="3332073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01 / Graph Algorithmic Engine</a:t>
            </a:r>
          </a:p>
          <a:p>
            <a:pPr>
              <a:defRPr sz="1300">
                <a:solidFill>
                  <a:srgbClr val="18181B"/>
                </a:solidFill>
                <a:latin typeface="Arial"/>
              </a:defRPr>
            </a:pPr>
            <a:r>
              <a:t>Linear-time O(V + E) Depth-First Search with low-link tracking to compute cut-vertices and biconnectivity.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4663440"/>
            <a:ext cx="3332073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02 / Interactive Topology Canvas</a:t>
            </a:r>
          </a:p>
          <a:p>
            <a:pPr>
              <a:defRPr sz="1300">
                <a:solidFill>
                  <a:srgbClr val="18181B"/>
                </a:solidFill>
                <a:latin typeface="Arial"/>
              </a:defRPr>
            </a:pPr>
            <a:r>
              <a:t>React Flow interface for modeling routers, switches, gateways, servers, and database node structures.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186" y="4663440"/>
            <a:ext cx="3332073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03 / Failure Lab Simulation</a:t>
            </a:r>
          </a:p>
          <a:p>
            <a:pPr>
              <a:defRPr sz="1300">
                <a:solidFill>
                  <a:srgbClr val="18181B"/>
                </a:solidFill>
                <a:latin typeface="Arial"/>
              </a:defRPr>
            </a:pPr>
            <a:r>
              <a:t>Interactive single-device failure simulation to quantify connected region changes and network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APSH 2026 | BICONNECTED NETWORK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Single device failures can fragment communication graphs into isolated regions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GRAPH THEORY DEFINITIONS</a:t>
            </a:r>
          </a:p>
          <a:p>
            <a:pPr>
              <a:defRPr sz="1300" b="1">
                <a:solidFill>
                  <a:srgbClr val="18181B"/>
                </a:solidFill>
                <a:latin typeface="Arial"/>
              </a:defRPr>
            </a:pPr>
            <a:r>
              <a:t>Network Graph Model G = (V, E):</a:t>
            </a:r>
          </a:p>
          <a:p>
            <a:pPr>
              <a:spcAft>
                <a:spcPts val="800"/>
              </a:spcAft>
              <a:defRPr sz="1200">
                <a:solidFill>
                  <a:srgbClr val="71717A"/>
                </a:solidFill>
                <a:latin typeface="Arial"/>
              </a:defRPr>
            </a:pPr>
            <a:r>
              <a:t>Infrastructure modeled as an undirected graph where V represents vertices (routers, switches, servers) and E represents communication links.</a:t>
            </a:r>
          </a:p>
          <a:p>
            <a:pPr>
              <a:defRPr sz="1300" b="1">
                <a:solidFill>
                  <a:srgbClr val="18181B"/>
                </a:solidFill>
                <a:latin typeface="Arial"/>
              </a:defRPr>
            </a:pPr>
            <a:r>
              <a:t>Connected Component:</a:t>
            </a:r>
          </a:p>
          <a:p>
            <a:pPr>
              <a:spcAft>
                <a:spcPts val="800"/>
              </a:spcAft>
              <a:defRPr sz="1200">
                <a:solidFill>
                  <a:srgbClr val="71717A"/>
                </a:solidFill>
                <a:latin typeface="Arial"/>
              </a:defRPr>
            </a:pPr>
            <a:r>
              <a:t>A maximal connected subgraph where a path exists between every pair of vertices |V|.</a:t>
            </a:r>
          </a:p>
          <a:p>
            <a:pPr>
              <a:defRPr sz="1300" b="1">
                <a:solidFill>
                  <a:srgbClr val="18181B"/>
                </a:solidFill>
                <a:latin typeface="Arial"/>
              </a:defRPr>
            </a:pPr>
            <a:r>
              <a:t>Articulation Point (Cut-Vertex):</a:t>
            </a:r>
          </a:p>
          <a:p>
            <a:pPr>
              <a:spcAft>
                <a:spcPts val="800"/>
              </a:spcAft>
              <a:defRPr sz="1200">
                <a:solidFill>
                  <a:srgbClr val="71717A"/>
                </a:solidFill>
                <a:latin typeface="Arial"/>
              </a:defRPr>
            </a:pPr>
            <a:r>
              <a:t>A vertex u ∈ V whose removal strictly increases the number of connected components in G.</a:t>
            </a:r>
          </a:p>
          <a:p>
            <a:pPr>
              <a:defRPr sz="1300" b="1">
                <a:solidFill>
                  <a:srgbClr val="18181B"/>
                </a:solidFill>
                <a:latin typeface="Arial"/>
              </a:defRPr>
            </a:pPr>
            <a:r>
              <a:t>Network Vulnerability Risk:</a:t>
            </a:r>
          </a:p>
          <a:p>
            <a:pPr>
              <a:spcAft>
                <a:spcPts val="800"/>
              </a:spcAft>
              <a:defRPr sz="1200">
                <a:solidFill>
                  <a:srgbClr val="71717A"/>
                </a:solidFill>
                <a:latin typeface="Arial"/>
              </a:defRPr>
            </a:pPr>
            <a:r>
              <a:t>If an articulation point fails, the network loses end-to-end reachability, splitting a unified topology into isolated sub-networks.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3336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BEFORE &amp; AFTER FAILURE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4967935" cy="1920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16A34A"/>
                </a:solidFill>
              </a:defRPr>
            </a:pPr>
            <a:r>
              <a:t>BEFORE FAILURE (Single Connected Region)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Topology:  [A: Router 1] ── [B: Switch] ── [u: Critical Router] ── [D: Gateway] ── [E: Server]</a:t>
            </a:r>
            <a:br/>
            <a:r>
              <a:t>Connected Components: 1   |   Vertices |V| = 5, Edges |E| =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206240"/>
            <a:ext cx="4967935" cy="1920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DC2626"/>
                </a:solidFill>
              </a:defRPr>
            </a:pPr>
            <a:r>
              <a:t>AFTER FAILURE of Articulation Point u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Removal of Critical Device u Fragments Topology into 2 Isolated Subcomponents:</a:t>
            </a:r>
            <a:br/>
            <a:r>
              <a:t>• Region 1: {A: Router 1, B: Switch}</a:t>
            </a:r>
            <a:br/>
            <a:r>
              <a:t>• Region 2: {D: Gateway, E: Server}</a:t>
            </a:r>
            <a:br/>
            <a:r>
              <a:t>Connected Components: 2  (Network Partitioned!)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APSH 2026 | BICONNECTED NETWORK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Tarjan's algorithm uses DFS discovery and low-link values for exact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DFS DISCOVERY &amp; LOW-LINK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Discovery Time disc[u]: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The timestamp when vertex u is first visited during Depth-First Search traversal.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Low-Link Value low[u]: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The lowest disc[w] reachable from u using DFS tree edges and at most one back-edge.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Low-Link Recurrence: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low[u] = min(</a:t>
            </a:r>
            <a:br/>
            <a:r>
              <a:t>  disc[u],</a:t>
            </a:r>
            <a:br/>
            <a:r>
              <a:t>  disc[w] for back-edges (u, w),</a:t>
            </a:r>
            <a:br/>
            <a:r>
              <a:t>  low[v] for tree-children v</a:t>
            </a:r>
            <a:br/>
            <a: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ARTICULATION CONDITIONS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Non-Root DFS Vertex u: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u is an articulation point if it has a DFS tree child v such that:</a:t>
            </a:r>
            <a:br/>
            <a:br/>
            <a:r>
              <a:t>        low[v] &gt;= disc[u]</a:t>
            </a:r>
            <a:br/>
            <a:br/>
            <a:r>
              <a:t>Meaning child v has no back-edge to any ancestor of u.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Root DFS Vertex r: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Root r is an articulation point if and only if it has at least two children (&gt;= 2) in the DFS tree.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187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BICONNECTED COMPONENTS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BCC Definition: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A maximal biconnected subgraph containing no articulation points. Every pair of vertices in a BCC lies on a simple cycle (2-connected).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Resilience Guarantee: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A biconnected component can survive the failure of ANY single vertex without disconnecting.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Edge Stack Partitioning: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DFS maintains an edge stack; when low[v] &gt;= disc[u], edges are popped to form a complete BCC.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APSH 2026 | BICONNECTED NETWORK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Linear O(V + E) time complexity enables real-time topology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9436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TARJAN'S ARTICULATION POINT &amp; BCC ALGORITHM</a:t>
            </a:r>
          </a:p>
          <a:p>
            <a:pPr>
              <a:defRPr sz="1100">
                <a:solidFill>
                  <a:srgbClr val="18181B"/>
                </a:solidFill>
                <a:latin typeface="Courier New"/>
              </a:defRPr>
            </a:pPr>
            <a:r>
              <a:t>def DFS(u, parent=-1):</a:t>
            </a:r>
            <a:br/>
            <a:r>
              <a:t>    disc[u] = low[u] = ++timer</a:t>
            </a:r>
            <a:br/>
            <a:r>
              <a:t>    children = 0</a:t>
            </a:r>
            <a:br/>
            <a:r>
              <a:t>    for v in adj[u]:</a:t>
            </a:r>
            <a:br/>
            <a:r>
              <a:t>        if v == parent: continue</a:t>
            </a:r>
            <a:br/>
            <a:r>
              <a:t>        if visited[v]:</a:t>
            </a:r>
            <a:br/>
            <a:r>
              <a:t>            low[u] = min(low[u], disc[v])  # Back-edge</a:t>
            </a:r>
            <a:br/>
            <a:r>
              <a:t>        else:</a:t>
            </a:r>
            <a:br/>
            <a:r>
              <a:t>            children += 1</a:t>
            </a:r>
            <a:br/>
            <a:r>
              <a:t>            edge_stack.push((u, v))</a:t>
            </a:r>
            <a:br/>
            <a:r>
              <a:t>            DFS(v, u)</a:t>
            </a:r>
            <a:br/>
            <a:r>
              <a:t>            low[u] = min(low[u], low[v])</a:t>
            </a:r>
            <a:br/>
            <a:r>
              <a:t>            </a:t>
            </a:r>
            <a:br/>
            <a:r>
              <a:t>            # Non-root articulation check</a:t>
            </a:r>
            <a:br/>
            <a:r>
              <a:t>            if parent != -1 and low[v] &gt;= disc[u]:</a:t>
            </a:r>
            <a:br/>
            <a:r>
              <a:t>                is_articulation[u] = True</a:t>
            </a:r>
            <a:br/>
            <a:r>
              <a:t>                pop_bcc_until((u, v))</a:t>
            </a:r>
            <a:br/>
            <a:r>
              <a:t>                </a:t>
            </a:r>
            <a:br/>
            <a:r>
              <a:t>    # Root articulation check</a:t>
            </a:r>
            <a:br/>
            <a:r>
              <a:t>    if parent == -1 and children &gt; 1:</a:t>
            </a:r>
            <a:br/>
            <a:r>
              <a:t>        is_articulation[u] = True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554480"/>
            <a:ext cx="45107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COMPLEXITY &amp; PROOF BOUNDS</a:t>
            </a:r>
          </a:p>
          <a:p>
            <a:pPr>
              <a:defRPr sz="1300" b="1">
                <a:solidFill>
                  <a:srgbClr val="18181B"/>
                </a:solidFill>
              </a:defRPr>
            </a:pPr>
            <a:r>
              <a:t>Time Complexity: O(V + E)</a:t>
            </a:r>
          </a:p>
          <a:p>
            <a:pPr>
              <a:spcAft>
                <a:spcPts val="1000"/>
              </a:spcAft>
              <a:defRPr sz="1100">
                <a:solidFill>
                  <a:srgbClr val="71717A"/>
                </a:solidFill>
              </a:defRPr>
            </a:pPr>
            <a:r>
              <a:t>• Each vertex v in V is visited exactly once during DFS entry.</a:t>
            </a:r>
            <a:br/>
            <a:r>
              <a:t>• Each edge e in E is traversed at most twice (once from each endpoint in an undirected graph).</a:t>
            </a:r>
            <a:br/>
            <a:r>
              <a:t>• Overall execution is strictly bounded by O(|V| + |E|).</a:t>
            </a:r>
          </a:p>
          <a:p>
            <a:pPr>
              <a:defRPr sz="1300" b="1">
                <a:solidFill>
                  <a:srgbClr val="18181B"/>
                </a:solidFill>
              </a:defRPr>
            </a:pPr>
            <a:r>
              <a:t>Space Complexity: O(V + E)</a:t>
            </a:r>
          </a:p>
          <a:p>
            <a:pPr>
              <a:spcAft>
                <a:spcPts val="1000"/>
              </a:spcAft>
              <a:defRPr sz="1100">
                <a:solidFill>
                  <a:srgbClr val="71717A"/>
                </a:solidFill>
              </a:defRPr>
            </a:pPr>
            <a:r>
              <a:t>• Adjacency List: O(V + E) memory to store network topology.</a:t>
            </a:r>
            <a:br/>
            <a:r>
              <a:t>• Traversal State: O(V) for disc, low, parent, visited arrays.</a:t>
            </a:r>
            <a:br/>
            <a:r>
              <a:t>• Call &amp; Edge Stack: O(V + E) for recursion stack and BCC edge tracking.</a:t>
            </a:r>
          </a:p>
          <a:p>
            <a:pPr>
              <a:defRPr sz="1300" b="1">
                <a:solidFill>
                  <a:srgbClr val="18181B"/>
                </a:solidFill>
              </a:defRPr>
            </a:pPr>
            <a:r>
              <a:t>Scalability Impact:</a:t>
            </a:r>
          </a:p>
          <a:p>
            <a:pPr>
              <a:spcAft>
                <a:spcPts val="1000"/>
              </a:spcAft>
              <a:defRPr sz="1100">
                <a:solidFill>
                  <a:srgbClr val="71717A"/>
                </a:solidFill>
              </a:defRPr>
            </a:pPr>
            <a:r>
              <a:t>Linear execution guarantees sub-millisecond evaluation for standard enterprise topologies containing hundreds of nodes.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APSH 2026 | BICONNECTED NETWORK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Full-stack architecture decouples React Flow UI from the Python graph analytics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FRONTEND UI LAYER</a:t>
            </a:r>
          </a:p>
          <a:p>
            <a:pPr>
              <a:spcAft>
                <a:spcPts val="1200"/>
              </a:spcAft>
              <a:defRPr sz="1300" b="1">
                <a:solidFill>
                  <a:srgbClr val="18181B"/>
                </a:solidFill>
              </a:defRPr>
            </a:pPr>
            <a:r>
              <a:t>React 18 + TypeScript + Vite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React Flow canvas for topology building and device layout.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Visual node types: Routers, Switches, Gateways, Servers, DBs.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Interactive failure lab toggle and real-time canvas highlighting.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Preset loader: Simple, Critical Router, Redundant, Enterprise.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COMMUNICATION API</a:t>
            </a:r>
          </a:p>
          <a:p>
            <a:pPr>
              <a:spcAft>
                <a:spcPts val="1200"/>
              </a:spcAft>
              <a:defRPr sz="1300" b="1">
                <a:solidFill>
                  <a:srgbClr val="18181B"/>
                </a:solidFill>
              </a:defRPr>
            </a:pPr>
            <a:r>
              <a:t>REST API / Fast Transport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JSON payload serialization for topology graphs (Nodes &amp; Edges).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Backend state reporting ('Backend • Connected' / 'Demo Mode').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Asynchronous triggers for 'Analyze Network'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186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ANALYTICS ENGINE</a:t>
            </a:r>
          </a:p>
          <a:p>
            <a:pPr>
              <a:spcAft>
                <a:spcPts val="1200"/>
              </a:spcAft>
              <a:defRPr sz="1300" b="1">
                <a:solidFill>
                  <a:srgbClr val="18181B"/>
                </a:solidFill>
              </a:defRPr>
            </a:pPr>
            <a:r>
              <a:t>FastAPI + Python Backend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Graph Builder: Parses JSON payloads into Adjacency Lists.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DFS Engine: Executes disc[u] and low[u] calculations.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Cut-Vertex Identifier: Marks critical device IDs.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• BCC Partitioning: Returns connected regions and biconnected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APSH 2026 | BICONNECTED NETWORK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Empirical verification across 5 standard topology profiles confirms algorithm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858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2563EB"/>
                </a:solidFill>
              </a:defRPr>
            </a:pPr>
            <a:r>
              <a:t>VERIFIED TEST TOPOLOGIES (FROM APPLICATION SCREENSHOTS)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01 Simple Network: Router → Switch → Server</a:t>
            </a:r>
          </a:p>
          <a:p>
            <a:pPr>
              <a:spcAft>
                <a:spcPts val="600"/>
              </a:spcAft>
              <a:defRPr sz="1100">
                <a:solidFill>
                  <a:srgbClr val="71717A"/>
                </a:solidFill>
              </a:defRPr>
            </a:pPr>
            <a:r>
              <a:t>   Result: 1 Critical Device  |  Connectivity: 1 Connected Region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02 Critical Router: 1 Router feeding two separate branches</a:t>
            </a:r>
          </a:p>
          <a:p>
            <a:pPr>
              <a:spcAft>
                <a:spcPts val="600"/>
              </a:spcAft>
              <a:defRPr sz="1100">
                <a:solidFill>
                  <a:srgbClr val="71717A"/>
                </a:solidFill>
              </a:defRPr>
            </a:pPr>
            <a:r>
              <a:t>   Result: 1 Critical Device  |  Connectivity: 1 Connected Region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03 Redundant Network: 4-Device Ring (no single point of failure)</a:t>
            </a:r>
          </a:p>
          <a:p>
            <a:pPr>
              <a:spcAft>
                <a:spcPts val="600"/>
              </a:spcAft>
              <a:defRPr sz="1100">
                <a:solidFill>
                  <a:srgbClr val="71717A"/>
                </a:solidFill>
              </a:defRPr>
            </a:pPr>
            <a:r>
              <a:t>   Result: 0 Critical Devices  |  Connectivity: 1 Biconnected Region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04 Disconnected Network: Two isolated device pairs</a:t>
            </a:r>
          </a:p>
          <a:p>
            <a:pPr>
              <a:spcAft>
                <a:spcPts val="600"/>
              </a:spcAft>
              <a:defRPr sz="1100">
                <a:solidFill>
                  <a:srgbClr val="71717A"/>
                </a:solidFill>
              </a:defRPr>
            </a:pPr>
            <a:r>
              <a:t>   Result: 0 Critical Devices  |  Connectivity: 2 Connected Regions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05 Enterprise Network: Gateway, Core Router, 2 Switch Tiers</a:t>
            </a:r>
          </a:p>
          <a:p>
            <a:pPr>
              <a:spcAft>
                <a:spcPts val="600"/>
              </a:spcAft>
              <a:defRPr sz="1100">
                <a:solidFill>
                  <a:srgbClr val="71717A"/>
                </a:solidFill>
              </a:defRPr>
            </a:pPr>
            <a:r>
              <a:t>   Result: Identifies Bottlenecks  |  Connectivity: Multi-region Partition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554480"/>
            <a:ext cx="3596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2563EB"/>
                </a:solidFill>
              </a:defRPr>
            </a:pPr>
            <a:r>
              <a:t>EXPECTED VS. OBSERVED RESULTS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Expected Results:</a:t>
            </a:r>
          </a:p>
          <a:p>
            <a:pPr>
              <a:spcAft>
                <a:spcPts val="1000"/>
              </a:spcAft>
              <a:defRPr sz="1100">
                <a:solidFill>
                  <a:srgbClr val="71717A"/>
                </a:solidFill>
              </a:defRPr>
            </a:pPr>
            <a:r>
              <a:t>• Exact cut-vertex identification matching manual graph analysis.</a:t>
            </a:r>
            <a:br/>
            <a:r>
              <a:t>• Correct biconnected component grouping.</a:t>
            </a:r>
            <a:br/>
            <a:r>
              <a:t>• Instant before/after failure metric recalculation.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Observed Prototype Evidence:</a:t>
            </a:r>
          </a:p>
          <a:p>
            <a:pPr>
              <a:spcAft>
                <a:spcPts val="1000"/>
              </a:spcAft>
              <a:defRPr sz="1100">
                <a:solidFill>
                  <a:srgbClr val="71717A"/>
                </a:solidFill>
              </a:defRPr>
            </a:pPr>
            <a:r>
              <a:t>• UI reports status: 'Backend • Connected'.</a:t>
            </a:r>
            <a:br/>
            <a:r>
              <a:t>• 'Analyze Network' triggers backend low-link calculations.</a:t>
            </a:r>
            <a:br/>
            <a:r>
              <a:t>• UI accurately updates Critical Device counts and Connected Region metrics upon failure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APSH 2026 | BICONNECTED NETWORK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Demonstrates robust algorithmic intelligence with realistic production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PROTOTYPE ACHIEVEMENTS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Exact Graph Intelligence: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Implements O(V + E) low-link analysis to detect structural single points of failure with mathematical precision.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Interactive Sandbox: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Provides network engineers with a visual canvas to build custom topologies and test resilience prior to hardware deployment.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Failure Simulation Lab: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Instantly demonstrates how removing a cut-vertex partitions communication paths.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DC2626"/>
                </a:solidFill>
              </a:defRPr>
            </a:pPr>
            <a:r>
              <a:t>DISCLOSED BOUNDARIES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Static Topology Input: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The current prototype relies on user-constructed canvas graphs or preset topologies.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No Live Discovery: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Does not feature live network auto-discovery protocols (e.g. SNMP, LLDP, or ARP crawling).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No Production Monitoring: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Not integrated with active hardware telemetry, packet sniffing, or live traffic monitoring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187" y="155448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16A34A"/>
                </a:solidFill>
              </a:defRPr>
            </a:pPr>
            <a:r>
              <a:t>FUTURE DEVELOPMENT SCOPE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Automated Topology Crawling: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Integrate SNMP / LLDP agent protocols for automatic discovery of real physical infrastructure.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Dynamic Edge Weighting: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Incorporate real-time latency, bandwidth, and throughput traffic metrics into biconnectivity scoring.</a:t>
            </a:r>
          </a:p>
          <a:p>
            <a:pPr>
              <a:defRPr sz="1200" b="1">
                <a:solidFill>
                  <a:srgbClr val="18181B"/>
                </a:solidFill>
              </a:defRPr>
            </a:pPr>
            <a:r>
              <a:t>Automated Failover Routing:</a:t>
            </a:r>
          </a:p>
          <a:p>
            <a:pPr>
              <a:spcAft>
                <a:spcPts val="800"/>
              </a:spcAft>
              <a:defRPr sz="1100">
                <a:solidFill>
                  <a:srgbClr val="71717A"/>
                </a:solidFill>
              </a:defRPr>
            </a:pPr>
            <a:r>
              <a:t>Generate redundant backup paths and failover routes when an articulation point is detected.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1604</Words>
  <Application>Microsoft Office PowerPoint</Application>
  <PresentationFormat>Widescreen</PresentationFormat>
  <Paragraphs>130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Adelle</vt:lpstr>
      <vt:lpstr>Arial</vt:lpstr>
      <vt:lpstr>Calibri</vt:lpstr>
      <vt:lpstr>NeuzeitGro</vt:lpstr>
      <vt:lpstr>Source Sans Pro</vt:lpstr>
      <vt:lpstr>Office Theme</vt:lpstr>
      <vt:lpstr>BICONNECTED NETWORK ANALYZER: A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Himesh Bathula</dc:creator>
  <cp:keywords/>
  <dc:description>generated using python-pptx</dc:description>
  <cp:lastModifiedBy>Himesh Bathula</cp:lastModifiedBy>
  <cp:revision>2</cp:revision>
  <dcterms:created xsi:type="dcterms:W3CDTF">2013-01-27T09:14:16Z</dcterms:created>
  <dcterms:modified xsi:type="dcterms:W3CDTF">2026-10-09T11:52:24Z</dcterms:modified>
  <cp:category/>
</cp:coreProperties>
</file>