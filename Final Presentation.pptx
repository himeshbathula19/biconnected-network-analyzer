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981F13-9499-4B24-8854-B23566474A73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D059CB-F67E-4FB6-AFC6-38FDEBF5E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116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D059CB-F67E-4FB6-AFC6-38FDEBF5EC1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134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87682" y="1711015"/>
            <a:ext cx="8018780" cy="521639"/>
          </a:xfrm>
          <a:prstGeom prst="rect">
            <a:avLst/>
          </a:prstGeom>
        </p:spPr>
        <p:txBody>
          <a:bodyPr vert="horz" wrap="square" lIns="0" tIns="8467" rIns="0" bIns="0" rtlCol="0" anchor="ctr">
            <a:spAutoFit/>
          </a:bodyPr>
          <a:lstStyle/>
          <a:p>
            <a:pPr marL="8467">
              <a:spcBef>
                <a:spcPts val="67"/>
              </a:spcBef>
            </a:pPr>
            <a:r>
              <a:rPr sz="3334" spc="-13" dirty="0">
                <a:latin typeface="Source Sans Pro"/>
                <a:cs typeface="Source Sans Pro"/>
              </a:rPr>
              <a:t>BICONNECTED</a:t>
            </a:r>
            <a:r>
              <a:rPr sz="3334" spc="-73" dirty="0">
                <a:latin typeface="Source Sans Pro"/>
                <a:cs typeface="Source Sans Pro"/>
              </a:rPr>
              <a:t> </a:t>
            </a:r>
            <a:r>
              <a:rPr sz="3334" dirty="0">
                <a:latin typeface="Source Sans Pro"/>
                <a:cs typeface="Source Sans Pro"/>
              </a:rPr>
              <a:t>NETWORK</a:t>
            </a:r>
            <a:r>
              <a:rPr sz="3334" spc="-70" dirty="0">
                <a:latin typeface="Source Sans Pro"/>
                <a:cs typeface="Source Sans Pro"/>
              </a:rPr>
              <a:t> </a:t>
            </a:r>
            <a:r>
              <a:rPr sz="3334" spc="-43" dirty="0">
                <a:latin typeface="Source Sans Pro"/>
                <a:cs typeface="Source Sans Pro"/>
              </a:rPr>
              <a:t>ANALYZER:</a:t>
            </a:r>
            <a:r>
              <a:rPr sz="3334" spc="-70" dirty="0">
                <a:latin typeface="Source Sans Pro"/>
                <a:cs typeface="Source Sans Pro"/>
              </a:rPr>
              <a:t> </a:t>
            </a:r>
            <a:r>
              <a:rPr sz="3334" dirty="0">
                <a:latin typeface="Source Sans Pro"/>
                <a:cs typeface="Source Sans Pro"/>
              </a:rPr>
              <a:t>A</a:t>
            </a:r>
            <a:r>
              <a:rPr sz="3334" spc="-70" dirty="0">
                <a:latin typeface="Source Sans Pro"/>
                <a:cs typeface="Source Sans Pro"/>
              </a:rPr>
              <a:t> </a:t>
            </a:r>
            <a:r>
              <a:rPr sz="3334" spc="-7" dirty="0">
                <a:latin typeface="Source Sans Pro"/>
                <a:cs typeface="Source Sans Pro"/>
              </a:rPr>
              <a:t>GUIDE</a:t>
            </a:r>
            <a:endParaRPr sz="3334">
              <a:latin typeface="Source Sans Pro"/>
              <a:cs typeface="Source Sans Pr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64675" y="2194832"/>
            <a:ext cx="7197937" cy="1786152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619368">
              <a:spcBef>
                <a:spcPts val="67"/>
              </a:spcBef>
            </a:pPr>
            <a:r>
              <a:rPr sz="2067" b="1" dirty="0">
                <a:solidFill>
                  <a:srgbClr val="7452E7"/>
                </a:solidFill>
                <a:latin typeface="NeuzeitGro"/>
                <a:cs typeface="NeuzeitGro"/>
              </a:rPr>
              <a:t>Empowering</a:t>
            </a:r>
            <a:r>
              <a:rPr sz="2067" b="1" spc="-53" dirty="0">
                <a:solidFill>
                  <a:srgbClr val="7452E7"/>
                </a:solidFill>
                <a:latin typeface="NeuzeitGro"/>
                <a:cs typeface="NeuzeitGro"/>
              </a:rPr>
              <a:t> </a:t>
            </a:r>
            <a:r>
              <a:rPr sz="2067" b="1" dirty="0">
                <a:solidFill>
                  <a:srgbClr val="7452E7"/>
                </a:solidFill>
                <a:latin typeface="NeuzeitGro"/>
                <a:cs typeface="NeuzeitGro"/>
              </a:rPr>
              <a:t>Network</a:t>
            </a:r>
            <a:r>
              <a:rPr sz="2067" b="1" spc="-50" dirty="0">
                <a:solidFill>
                  <a:srgbClr val="7452E7"/>
                </a:solidFill>
                <a:latin typeface="NeuzeitGro"/>
                <a:cs typeface="NeuzeitGro"/>
              </a:rPr>
              <a:t> </a:t>
            </a:r>
            <a:r>
              <a:rPr sz="2067" b="1" dirty="0">
                <a:solidFill>
                  <a:srgbClr val="7452E7"/>
                </a:solidFill>
                <a:latin typeface="NeuzeitGro"/>
                <a:cs typeface="NeuzeitGro"/>
              </a:rPr>
              <a:t>Engineers</a:t>
            </a:r>
            <a:r>
              <a:rPr sz="2067" b="1" spc="-50" dirty="0">
                <a:solidFill>
                  <a:srgbClr val="7452E7"/>
                </a:solidFill>
                <a:latin typeface="NeuzeitGro"/>
                <a:cs typeface="NeuzeitGro"/>
              </a:rPr>
              <a:t> </a:t>
            </a:r>
            <a:r>
              <a:rPr sz="2067" b="1" dirty="0">
                <a:solidFill>
                  <a:srgbClr val="7452E7"/>
                </a:solidFill>
                <a:latin typeface="NeuzeitGro"/>
                <a:cs typeface="NeuzeitGro"/>
              </a:rPr>
              <a:t>with</a:t>
            </a:r>
            <a:r>
              <a:rPr sz="2067" b="1" spc="-53" dirty="0">
                <a:solidFill>
                  <a:srgbClr val="7452E7"/>
                </a:solidFill>
                <a:latin typeface="NeuzeitGro"/>
                <a:cs typeface="NeuzeitGro"/>
              </a:rPr>
              <a:t> </a:t>
            </a:r>
            <a:r>
              <a:rPr sz="2067" b="1" dirty="0">
                <a:solidFill>
                  <a:srgbClr val="7452E7"/>
                </a:solidFill>
                <a:latin typeface="NeuzeitGro"/>
                <a:cs typeface="NeuzeitGro"/>
              </a:rPr>
              <a:t>Robust</a:t>
            </a:r>
            <a:r>
              <a:rPr sz="2067" b="1" spc="-50" dirty="0">
                <a:solidFill>
                  <a:srgbClr val="7452E7"/>
                </a:solidFill>
                <a:latin typeface="NeuzeitGro"/>
                <a:cs typeface="NeuzeitGro"/>
              </a:rPr>
              <a:t> </a:t>
            </a:r>
            <a:r>
              <a:rPr sz="2067" b="1" spc="-7" dirty="0">
                <a:solidFill>
                  <a:srgbClr val="7452E7"/>
                </a:solidFill>
                <a:latin typeface="NeuzeitGro"/>
                <a:cs typeface="NeuzeitGro"/>
              </a:rPr>
              <a:t>Analysis</a:t>
            </a:r>
            <a:endParaRPr sz="2067">
              <a:latin typeface="NeuzeitGro"/>
              <a:cs typeface="NeuzeitGro"/>
            </a:endParaRPr>
          </a:p>
          <a:p>
            <a:pPr algn="ctr">
              <a:spcBef>
                <a:spcPts val="1467"/>
              </a:spcBef>
            </a:pPr>
            <a:r>
              <a:rPr sz="1667" dirty="0">
                <a:latin typeface="Adelle"/>
                <a:cs typeface="Adelle"/>
              </a:rPr>
              <a:t>TEAM </a:t>
            </a:r>
            <a:r>
              <a:rPr sz="1667" spc="-7" dirty="0">
                <a:latin typeface="Adelle"/>
                <a:cs typeface="Adelle"/>
              </a:rPr>
              <a:t>MEMBERS</a:t>
            </a:r>
            <a:endParaRPr sz="1667">
              <a:latin typeface="Adelle"/>
              <a:cs typeface="Adelle"/>
            </a:endParaRPr>
          </a:p>
          <a:p>
            <a:pPr marL="212947">
              <a:spcBef>
                <a:spcPts val="1207"/>
              </a:spcBef>
              <a:tabLst>
                <a:tab pos="4166232" algn="l"/>
              </a:tabLst>
            </a:pPr>
            <a:r>
              <a:rPr sz="1867" dirty="0">
                <a:latin typeface="NeuzeitGro"/>
                <a:cs typeface="NeuzeitGro"/>
              </a:rPr>
              <a:t>HIMESH</a:t>
            </a:r>
            <a:r>
              <a:rPr sz="1867" spc="113" dirty="0">
                <a:latin typeface="NeuzeitGro"/>
                <a:cs typeface="NeuzeitGro"/>
              </a:rPr>
              <a:t> </a:t>
            </a:r>
            <a:r>
              <a:rPr sz="1867" dirty="0">
                <a:latin typeface="NeuzeitGro"/>
                <a:cs typeface="NeuzeitGro"/>
              </a:rPr>
              <a:t>BATHULA-</a:t>
            </a:r>
            <a:r>
              <a:rPr sz="1867" spc="-7" dirty="0">
                <a:latin typeface="NeuzeitGro"/>
                <a:cs typeface="NeuzeitGro"/>
              </a:rPr>
              <a:t>25MVCSMR0286</a:t>
            </a:r>
            <a:r>
              <a:rPr sz="1867" dirty="0">
                <a:latin typeface="NeuzeitGro"/>
                <a:cs typeface="NeuzeitGro"/>
              </a:rPr>
              <a:t>	-</a:t>
            </a:r>
            <a:r>
              <a:rPr sz="1867" spc="-3" dirty="0">
                <a:latin typeface="NeuzeitGro"/>
                <a:cs typeface="NeuzeitGro"/>
              </a:rPr>
              <a:t> </a:t>
            </a:r>
            <a:r>
              <a:rPr sz="1867" dirty="0">
                <a:latin typeface="NeuzeitGro"/>
                <a:cs typeface="NeuzeitGro"/>
              </a:rPr>
              <a:t>ALGORITHM </a:t>
            </a:r>
            <a:r>
              <a:rPr sz="1867" spc="-13" dirty="0">
                <a:latin typeface="NeuzeitGro"/>
                <a:cs typeface="NeuzeitGro"/>
              </a:rPr>
              <a:t>LEAD</a:t>
            </a:r>
            <a:endParaRPr sz="1867">
              <a:latin typeface="NeuzeitGro"/>
              <a:cs typeface="NeuzeitGro"/>
            </a:endParaRPr>
          </a:p>
          <a:p>
            <a:pPr>
              <a:spcBef>
                <a:spcPts val="33"/>
              </a:spcBef>
            </a:pPr>
            <a:endParaRPr sz="1867">
              <a:latin typeface="NeuzeitGro"/>
              <a:cs typeface="NeuzeitGro"/>
            </a:endParaRPr>
          </a:p>
          <a:p>
            <a:pPr algn="ctr">
              <a:tabLst>
                <a:tab pos="4009590" algn="l"/>
              </a:tabLst>
            </a:pPr>
            <a:r>
              <a:rPr sz="1833" dirty="0">
                <a:latin typeface="NeuzeitGro"/>
                <a:cs typeface="NeuzeitGro"/>
              </a:rPr>
              <a:t>MAREEDU</a:t>
            </a:r>
            <a:r>
              <a:rPr sz="1833" spc="-57" dirty="0">
                <a:latin typeface="NeuzeitGro"/>
                <a:cs typeface="NeuzeitGro"/>
              </a:rPr>
              <a:t> </a:t>
            </a:r>
            <a:r>
              <a:rPr sz="1833" spc="-7" dirty="0">
                <a:latin typeface="NeuzeitGro"/>
                <a:cs typeface="NeuzeitGro"/>
              </a:rPr>
              <a:t>RAKSHIT-25MVCSMR0326</a:t>
            </a:r>
            <a:r>
              <a:rPr sz="1833" dirty="0">
                <a:latin typeface="NeuzeitGro"/>
                <a:cs typeface="NeuzeitGro"/>
              </a:rPr>
              <a:t>	-</a:t>
            </a:r>
            <a:r>
              <a:rPr sz="1833" spc="-10" dirty="0">
                <a:latin typeface="NeuzeitGro"/>
                <a:cs typeface="NeuzeitGro"/>
              </a:rPr>
              <a:t>  </a:t>
            </a:r>
            <a:r>
              <a:rPr sz="1833" dirty="0">
                <a:latin typeface="NeuzeitGro"/>
                <a:cs typeface="NeuzeitGro"/>
              </a:rPr>
              <a:t>STREAMLIT</a:t>
            </a:r>
            <a:r>
              <a:rPr sz="1833" spc="-13" dirty="0">
                <a:latin typeface="NeuzeitGro"/>
                <a:cs typeface="NeuzeitGro"/>
              </a:rPr>
              <a:t> </a:t>
            </a:r>
            <a:r>
              <a:rPr sz="1833" dirty="0">
                <a:latin typeface="NeuzeitGro"/>
                <a:cs typeface="NeuzeitGro"/>
              </a:rPr>
              <a:t>UI/</a:t>
            </a:r>
            <a:r>
              <a:rPr sz="1833" spc="-10" dirty="0">
                <a:latin typeface="NeuzeitGro"/>
                <a:cs typeface="NeuzeitGro"/>
              </a:rPr>
              <a:t> </a:t>
            </a:r>
            <a:r>
              <a:rPr sz="1833" spc="-7" dirty="0">
                <a:latin typeface="NeuzeitGro"/>
                <a:cs typeface="NeuzeitGro"/>
              </a:rPr>
              <a:t>VISUALIZATION</a:t>
            </a:r>
            <a:endParaRPr sz="1833">
              <a:latin typeface="NeuzeitGro"/>
              <a:cs typeface="NeuzeitGr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64675" y="4405796"/>
            <a:ext cx="3653790" cy="277362"/>
          </a:xfrm>
          <a:prstGeom prst="rect">
            <a:avLst/>
          </a:prstGeom>
        </p:spPr>
        <p:txBody>
          <a:bodyPr vert="horz" wrap="square" lIns="0" tIns="10583" rIns="0" bIns="0" rtlCol="0">
            <a:spAutoFit/>
          </a:bodyPr>
          <a:lstStyle/>
          <a:p>
            <a:pPr marL="8467">
              <a:spcBef>
                <a:spcPts val="83"/>
              </a:spcBef>
            </a:pPr>
            <a:r>
              <a:rPr sz="1733" dirty="0">
                <a:latin typeface="NeuzeitGro"/>
                <a:cs typeface="NeuzeitGro"/>
              </a:rPr>
              <a:t>MOOLA</a:t>
            </a:r>
            <a:r>
              <a:rPr sz="1733" spc="230" dirty="0">
                <a:latin typeface="NeuzeitGro"/>
                <a:cs typeface="NeuzeitGro"/>
              </a:rPr>
              <a:t> </a:t>
            </a:r>
            <a:r>
              <a:rPr sz="1733" dirty="0">
                <a:latin typeface="NeuzeitGro"/>
                <a:cs typeface="NeuzeitGro"/>
              </a:rPr>
              <a:t>OMPRAKASH-</a:t>
            </a:r>
            <a:r>
              <a:rPr sz="1733" spc="-7" dirty="0">
                <a:latin typeface="NeuzeitGro"/>
                <a:cs typeface="NeuzeitGro"/>
              </a:rPr>
              <a:t>25MVCSMR0331</a:t>
            </a:r>
            <a:endParaRPr sz="1733">
              <a:latin typeface="NeuzeitGro"/>
              <a:cs typeface="NeuzeitGr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67878" y="4405796"/>
            <a:ext cx="2881630" cy="277362"/>
          </a:xfrm>
          <a:prstGeom prst="rect">
            <a:avLst/>
          </a:prstGeom>
        </p:spPr>
        <p:txBody>
          <a:bodyPr vert="horz" wrap="square" lIns="0" tIns="10583" rIns="0" bIns="0" rtlCol="0">
            <a:spAutoFit/>
          </a:bodyPr>
          <a:lstStyle/>
          <a:p>
            <a:pPr marL="8467">
              <a:spcBef>
                <a:spcPts val="83"/>
              </a:spcBef>
            </a:pPr>
            <a:r>
              <a:rPr sz="1733" dirty="0">
                <a:latin typeface="NeuzeitGro"/>
                <a:cs typeface="NeuzeitGro"/>
              </a:rPr>
              <a:t>-</a:t>
            </a:r>
            <a:r>
              <a:rPr sz="1733" spc="10" dirty="0">
                <a:latin typeface="NeuzeitGro"/>
                <a:cs typeface="NeuzeitGro"/>
              </a:rPr>
              <a:t> </a:t>
            </a:r>
            <a:r>
              <a:rPr sz="1733" dirty="0">
                <a:latin typeface="NeuzeitGro"/>
                <a:cs typeface="NeuzeitGro"/>
              </a:rPr>
              <a:t>TESTING</a:t>
            </a:r>
            <a:r>
              <a:rPr sz="1733" spc="13" dirty="0">
                <a:latin typeface="NeuzeitGro"/>
                <a:cs typeface="NeuzeitGro"/>
              </a:rPr>
              <a:t> </a:t>
            </a:r>
            <a:r>
              <a:rPr sz="1733" dirty="0">
                <a:latin typeface="NeuzeitGro"/>
                <a:cs typeface="NeuzeitGro"/>
              </a:rPr>
              <a:t>&amp;</a:t>
            </a:r>
            <a:r>
              <a:rPr sz="1733" spc="10" dirty="0">
                <a:latin typeface="NeuzeitGro"/>
                <a:cs typeface="NeuzeitGro"/>
              </a:rPr>
              <a:t> </a:t>
            </a:r>
            <a:r>
              <a:rPr sz="1733" spc="-7" dirty="0">
                <a:latin typeface="NeuzeitGro"/>
                <a:cs typeface="NeuzeitGro"/>
              </a:rPr>
              <a:t>DOCUMENTATION</a:t>
            </a:r>
            <a:endParaRPr sz="1733">
              <a:latin typeface="NeuzeitGro"/>
              <a:cs typeface="NeuzeitGr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5224" y="6010263"/>
            <a:ext cx="11136629" cy="365058"/>
          </a:xfrm>
          <a:prstGeom prst="rect">
            <a:avLst/>
          </a:prstGeom>
        </p:spPr>
        <p:txBody>
          <a:bodyPr vert="horz" wrap="square" lIns="0" tIns="11007" rIns="0" bIns="0" rtlCol="0">
            <a:spAutoFit/>
          </a:bodyPr>
          <a:lstStyle/>
          <a:p>
            <a:pPr marL="8467">
              <a:spcBef>
                <a:spcPts val="87"/>
              </a:spcBef>
            </a:pPr>
            <a:r>
              <a:rPr sz="2300" dirty="0">
                <a:latin typeface="NeuzeitGro"/>
                <a:cs typeface="NeuzeitGro"/>
              </a:rPr>
              <a:t>PROBLEM</a:t>
            </a:r>
            <a:r>
              <a:rPr sz="2300" spc="7" dirty="0">
                <a:latin typeface="NeuzeitGro"/>
                <a:cs typeface="NeuzeitGro"/>
              </a:rPr>
              <a:t> </a:t>
            </a:r>
            <a:r>
              <a:rPr sz="2300" dirty="0">
                <a:latin typeface="NeuzeitGro"/>
                <a:cs typeface="NeuzeitGro"/>
              </a:rPr>
              <a:t>DOMAIN</a:t>
            </a:r>
            <a:r>
              <a:rPr sz="2300" spc="13" dirty="0">
                <a:latin typeface="NeuzeitGro"/>
                <a:cs typeface="NeuzeitGro"/>
              </a:rPr>
              <a:t> </a:t>
            </a:r>
            <a:r>
              <a:rPr sz="2300" b="1" dirty="0">
                <a:latin typeface="NeuzeitGro"/>
                <a:cs typeface="NeuzeitGro"/>
              </a:rPr>
              <a:t>:</a:t>
            </a:r>
            <a:r>
              <a:rPr sz="2300" b="1" spc="13" dirty="0">
                <a:latin typeface="NeuzeitGro"/>
                <a:cs typeface="NeuzeitGro"/>
              </a:rPr>
              <a:t> </a:t>
            </a:r>
            <a:r>
              <a:rPr sz="1833" dirty="0">
                <a:latin typeface="NeuzeitGro"/>
                <a:cs typeface="NeuzeitGro"/>
              </a:rPr>
              <a:t>Graph</a:t>
            </a:r>
            <a:r>
              <a:rPr sz="1833" spc="13" dirty="0">
                <a:latin typeface="NeuzeitGro"/>
                <a:cs typeface="NeuzeitGro"/>
              </a:rPr>
              <a:t> </a:t>
            </a:r>
            <a:r>
              <a:rPr sz="1833" dirty="0">
                <a:latin typeface="NeuzeitGro"/>
                <a:cs typeface="NeuzeitGro"/>
              </a:rPr>
              <a:t>theory</a:t>
            </a:r>
            <a:r>
              <a:rPr sz="1833" spc="17" dirty="0">
                <a:latin typeface="NeuzeitGro"/>
                <a:cs typeface="NeuzeitGro"/>
              </a:rPr>
              <a:t> </a:t>
            </a:r>
            <a:r>
              <a:rPr sz="1833" dirty="0">
                <a:latin typeface="NeuzeitGro"/>
                <a:cs typeface="NeuzeitGro"/>
              </a:rPr>
              <a:t>,</a:t>
            </a:r>
            <a:r>
              <a:rPr sz="1833" spc="13" dirty="0">
                <a:latin typeface="NeuzeitGro"/>
                <a:cs typeface="NeuzeitGro"/>
              </a:rPr>
              <a:t> </a:t>
            </a:r>
            <a:r>
              <a:rPr sz="1833" dirty="0">
                <a:latin typeface="NeuzeitGro"/>
                <a:cs typeface="NeuzeitGro"/>
              </a:rPr>
              <a:t>Network</a:t>
            </a:r>
            <a:r>
              <a:rPr sz="1833" spc="13" dirty="0">
                <a:latin typeface="NeuzeitGro"/>
                <a:cs typeface="NeuzeitGro"/>
              </a:rPr>
              <a:t> </a:t>
            </a:r>
            <a:r>
              <a:rPr sz="1833" dirty="0">
                <a:latin typeface="NeuzeitGro"/>
                <a:cs typeface="NeuzeitGro"/>
              </a:rPr>
              <a:t>Resilience,</a:t>
            </a:r>
            <a:r>
              <a:rPr sz="1833" spc="17" dirty="0">
                <a:latin typeface="NeuzeitGro"/>
                <a:cs typeface="NeuzeitGro"/>
              </a:rPr>
              <a:t> </a:t>
            </a:r>
            <a:r>
              <a:rPr sz="1833" dirty="0">
                <a:latin typeface="NeuzeitGro"/>
                <a:cs typeface="NeuzeitGro"/>
              </a:rPr>
              <a:t>Communication</a:t>
            </a:r>
            <a:r>
              <a:rPr sz="1833" spc="13" dirty="0">
                <a:latin typeface="NeuzeitGro"/>
                <a:cs typeface="NeuzeitGro"/>
              </a:rPr>
              <a:t> </a:t>
            </a:r>
            <a:r>
              <a:rPr sz="1833" dirty="0">
                <a:latin typeface="NeuzeitGro"/>
                <a:cs typeface="NeuzeitGro"/>
              </a:rPr>
              <a:t>Networks,</a:t>
            </a:r>
            <a:r>
              <a:rPr sz="1833" spc="17" dirty="0">
                <a:latin typeface="NeuzeitGro"/>
                <a:cs typeface="NeuzeitGro"/>
              </a:rPr>
              <a:t> </a:t>
            </a:r>
            <a:r>
              <a:rPr sz="1833" dirty="0">
                <a:latin typeface="NeuzeitGro"/>
                <a:cs typeface="NeuzeitGro"/>
              </a:rPr>
              <a:t>DFS</a:t>
            </a:r>
            <a:r>
              <a:rPr sz="1833" spc="13" dirty="0">
                <a:latin typeface="NeuzeitGro"/>
                <a:cs typeface="NeuzeitGro"/>
              </a:rPr>
              <a:t> </a:t>
            </a:r>
            <a:r>
              <a:rPr sz="1833" dirty="0">
                <a:latin typeface="NeuzeitGro"/>
                <a:cs typeface="NeuzeitGro"/>
              </a:rPr>
              <a:t>-</a:t>
            </a:r>
            <a:r>
              <a:rPr sz="1833" spc="13" dirty="0">
                <a:latin typeface="NeuzeitGro"/>
                <a:cs typeface="NeuzeitGro"/>
              </a:rPr>
              <a:t> </a:t>
            </a:r>
            <a:r>
              <a:rPr sz="1833" dirty="0">
                <a:latin typeface="NeuzeitGro"/>
                <a:cs typeface="NeuzeitGro"/>
              </a:rPr>
              <a:t>based</a:t>
            </a:r>
            <a:r>
              <a:rPr sz="1833" spc="17" dirty="0">
                <a:latin typeface="NeuzeitGro"/>
                <a:cs typeface="NeuzeitGro"/>
              </a:rPr>
              <a:t> </a:t>
            </a:r>
            <a:r>
              <a:rPr sz="1833" spc="-7" dirty="0">
                <a:latin typeface="NeuzeitGro"/>
                <a:cs typeface="NeuzeitGro"/>
              </a:rPr>
              <a:t>Algorithms</a:t>
            </a:r>
            <a:endParaRPr sz="1833">
              <a:latin typeface="NeuzeitGro"/>
              <a:cs typeface="NeuzeitGr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69525" y="5035530"/>
            <a:ext cx="3799840" cy="276507"/>
          </a:xfrm>
          <a:prstGeom prst="rect">
            <a:avLst/>
          </a:prstGeom>
        </p:spPr>
        <p:txBody>
          <a:bodyPr vert="horz" wrap="square" lIns="0" tIns="9736" rIns="0" bIns="0" rtlCol="0">
            <a:spAutoFit/>
          </a:bodyPr>
          <a:lstStyle/>
          <a:p>
            <a:pPr marL="8467">
              <a:spcBef>
                <a:spcPts val="76"/>
              </a:spcBef>
            </a:pPr>
            <a:r>
              <a:rPr sz="1733" dirty="0">
                <a:latin typeface="NeuzeitGro"/>
                <a:cs typeface="NeuzeitGro"/>
              </a:rPr>
              <a:t>SANJEET</a:t>
            </a:r>
            <a:r>
              <a:rPr sz="1733" spc="23" dirty="0">
                <a:latin typeface="NeuzeitGro"/>
                <a:cs typeface="NeuzeitGro"/>
              </a:rPr>
              <a:t> </a:t>
            </a:r>
            <a:r>
              <a:rPr sz="1733" dirty="0">
                <a:latin typeface="NeuzeitGro"/>
                <a:cs typeface="NeuzeitGro"/>
              </a:rPr>
              <a:t>KUMAR</a:t>
            </a:r>
            <a:r>
              <a:rPr sz="1733" spc="30" dirty="0">
                <a:latin typeface="NeuzeitGro"/>
                <a:cs typeface="NeuzeitGro"/>
              </a:rPr>
              <a:t> </a:t>
            </a:r>
            <a:r>
              <a:rPr sz="1733" dirty="0">
                <a:latin typeface="NeuzeitGro"/>
                <a:cs typeface="NeuzeitGro"/>
              </a:rPr>
              <a:t>DOLAI-</a:t>
            </a:r>
            <a:r>
              <a:rPr sz="1733" spc="-7" dirty="0">
                <a:latin typeface="NeuzeitGro"/>
                <a:cs typeface="NeuzeitGro"/>
              </a:rPr>
              <a:t>25MVCSMR0354</a:t>
            </a:r>
            <a:endParaRPr sz="1733">
              <a:latin typeface="NeuzeitGro"/>
              <a:cs typeface="NeuzeitGr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18071" y="5035530"/>
            <a:ext cx="2371936" cy="276507"/>
          </a:xfrm>
          <a:prstGeom prst="rect">
            <a:avLst/>
          </a:prstGeom>
        </p:spPr>
        <p:txBody>
          <a:bodyPr vert="horz" wrap="square" lIns="0" tIns="9736" rIns="0" bIns="0" rtlCol="0">
            <a:spAutoFit/>
          </a:bodyPr>
          <a:lstStyle/>
          <a:p>
            <a:pPr marL="8467">
              <a:spcBef>
                <a:spcPts val="76"/>
              </a:spcBef>
            </a:pPr>
            <a:r>
              <a:rPr sz="1733" dirty="0">
                <a:latin typeface="NeuzeitGro"/>
                <a:cs typeface="NeuzeitGro"/>
              </a:rPr>
              <a:t>-</a:t>
            </a:r>
            <a:r>
              <a:rPr sz="1733" spc="-23" dirty="0">
                <a:latin typeface="NeuzeitGro"/>
                <a:cs typeface="NeuzeitGro"/>
              </a:rPr>
              <a:t> </a:t>
            </a:r>
            <a:r>
              <a:rPr sz="1733" spc="-13" dirty="0">
                <a:latin typeface="NeuzeitGro"/>
                <a:cs typeface="NeuzeitGro"/>
              </a:rPr>
              <a:t>PRESENTATION</a:t>
            </a:r>
            <a:r>
              <a:rPr sz="1733" spc="-23" dirty="0">
                <a:latin typeface="NeuzeitGro"/>
                <a:cs typeface="NeuzeitGro"/>
              </a:rPr>
              <a:t> </a:t>
            </a:r>
            <a:r>
              <a:rPr sz="1733" dirty="0">
                <a:latin typeface="NeuzeitGro"/>
                <a:cs typeface="NeuzeitGro"/>
              </a:rPr>
              <a:t>&amp;</a:t>
            </a:r>
            <a:r>
              <a:rPr sz="1733" spc="-20" dirty="0">
                <a:latin typeface="NeuzeitGro"/>
                <a:cs typeface="NeuzeitGro"/>
              </a:rPr>
              <a:t> </a:t>
            </a:r>
            <a:r>
              <a:rPr sz="1733" spc="-13" dirty="0">
                <a:latin typeface="NeuzeitGro"/>
                <a:cs typeface="NeuzeitGro"/>
              </a:rPr>
              <a:t>DEMO</a:t>
            </a:r>
            <a:endParaRPr sz="1733">
              <a:latin typeface="NeuzeitGro"/>
              <a:cs typeface="NeuzeitGro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217" y="76201"/>
            <a:ext cx="11752783" cy="13431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960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121720"/>
                </a:solidFill>
                <a:latin typeface="Aptos"/>
              </a:rPr>
              <a:t>BICONNECTED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517904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3A48A6"/>
                </a:solidFill>
                <a:latin typeface="Aptos"/>
              </a:rPr>
              <a:t>ANALYZER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56C78"/>
                </a:solidFill>
                <a:latin typeface="Aptos"/>
              </a:rPr>
              <a:t>Graph-based communication network resilience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9260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3072384"/>
            <a:ext cx="30998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93737"/>
                </a:solidFill>
                <a:latin typeface="Aptos"/>
              </a:rPr>
              <a:t>ONE-LINE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3410712"/>
            <a:ext cx="3099816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21720"/>
                </a:solidFill>
                <a:latin typeface="Aptos"/>
              </a:rPr>
              <a:t>Identify structurally critical devices and demonstrate how their failure can fragment a communication network.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9260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3072384"/>
            <a:ext cx="30998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48A6"/>
                </a:solidFill>
                <a:latin typeface="Aptos"/>
              </a:rPr>
              <a:t>PROBLEM DOMAIN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3410712"/>
            <a:ext cx="3099816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21720"/>
                </a:solidFill>
                <a:latin typeface="Aptos"/>
              </a:rPr>
              <a:t>Design &amp; Analysis of Algorithms • Graph Theory • Network Resilience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9260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57031" y="3072384"/>
            <a:ext cx="30998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48A6"/>
                </a:solidFill>
                <a:latin typeface="Aptos"/>
              </a:rPr>
              <a:t>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3410712"/>
            <a:ext cx="3099816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21720"/>
                </a:solidFill>
                <a:latin typeface="Aptos"/>
              </a:rPr>
              <a:t>Team Member 1 • Team Member 2 • Team Member 3
(Replace with official names)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989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56C78"/>
                </a:solidFill>
                <a:latin typeface="Aptos"/>
              </a:rPr>
              <a:t>Hackathon / DAA Prototype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48A6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30168" y="60323"/>
            <a:ext cx="102412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121720"/>
                </a:solidFill>
                <a:latin typeface="Aptos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813816"/>
            <a:ext cx="10241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656C78"/>
                </a:solidFill>
                <a:latin typeface="Aptos"/>
              </a:rPr>
              <a:t>A communication network can look connected while still depending on a small number of structural points.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43584"/>
            <a:ext cx="10972800" cy="10972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212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719072"/>
            <a:ext cx="4882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B93737"/>
                </a:solidFill>
                <a:latin typeface="Aptos"/>
              </a:rPr>
              <a:t>REAL-WORLD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57400"/>
            <a:ext cx="48828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21720"/>
                </a:solidFill>
                <a:latin typeface="Aptos"/>
              </a:rPr>
              <a:t>A single router, switch or gateway may connect otherwise separate regions. If that device fails, connectivity can fragment.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520440"/>
            <a:ext cx="5212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3666744"/>
            <a:ext cx="4882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3A48A6"/>
                </a:solidFill>
                <a:latin typeface="Aptos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005072"/>
            <a:ext cx="48828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21720"/>
                </a:solidFill>
                <a:latin typeface="Aptos"/>
              </a:rPr>
              <a:t>Finding structural single points of failure early supports redundancy planning, failure experiments and better network design.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7276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48A6"/>
                </a:solidFill>
                <a:latin typeface="Aptos"/>
              </a:rPr>
              <a:t>KEY CHALLENGES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493776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21720"/>
                </a:solidFill>
                <a:latin typeface="Aptos"/>
              </a:defRPr>
            </a:pPr>
            <a:r>
              <a:rPr sz="2400" dirty="0"/>
              <a:t>• Model infrastructure accurately as a graph.</a:t>
            </a:r>
          </a:p>
          <a:p>
            <a:pPr>
              <a:spcAft>
                <a:spcPts val="800"/>
              </a:spcAft>
              <a:defRPr sz="1300">
                <a:solidFill>
                  <a:srgbClr val="121720"/>
                </a:solidFill>
                <a:latin typeface="Aptos"/>
              </a:defRPr>
            </a:pPr>
            <a:r>
              <a:rPr sz="2400" dirty="0"/>
              <a:t>• Identify critical vertices without repeatedly recomputing the entire network.</a:t>
            </a:r>
          </a:p>
          <a:p>
            <a:pPr>
              <a:spcAft>
                <a:spcPts val="800"/>
              </a:spcAft>
              <a:defRPr sz="1300">
                <a:solidFill>
                  <a:srgbClr val="121720"/>
                </a:solidFill>
                <a:latin typeface="Aptos"/>
              </a:defRPr>
            </a:pPr>
            <a:r>
              <a:rPr sz="2400" dirty="0"/>
              <a:t>• Explain why a node is critical rather than only returning a label.</a:t>
            </a:r>
          </a:p>
          <a:p>
            <a:pPr>
              <a:spcAft>
                <a:spcPts val="800"/>
              </a:spcAft>
              <a:defRPr sz="1300">
                <a:solidFill>
                  <a:srgbClr val="121720"/>
                </a:solidFill>
                <a:latin typeface="Aptos"/>
              </a:defRPr>
            </a:pPr>
            <a:r>
              <a:rPr sz="2400" dirty="0"/>
              <a:t>• Translate an abstract DAA result into an observable failure scenario.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48A6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83464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1720"/>
                </a:solidFill>
                <a:latin typeface="Aptos"/>
              </a:rPr>
              <a:t>Our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813816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56C78"/>
                </a:solidFill>
                <a:latin typeface="Aptos"/>
              </a:rPr>
              <a:t>The prototype combines classical graph theory with an explainable interactive network analysis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43584"/>
            <a:ext cx="10972800" cy="10972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719072"/>
            <a:ext cx="30998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48A6"/>
                </a:solidFill>
                <a:latin typeface="Aptos"/>
              </a:rP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57400"/>
            <a:ext cx="30998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121720"/>
                </a:solidFill>
                <a:latin typeface="Aptos"/>
              </a:rPr>
              <a:t>Use one DFS-based structural analysis to expose discovery/low-link evidence, then connect the result to simulated network failure.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72768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719072"/>
            <a:ext cx="30998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93737"/>
                </a:solidFill>
                <a:latin typeface="Aptos"/>
              </a:rPr>
              <a:t>WHAT IS DIFFERENT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057400"/>
            <a:ext cx="3099816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 dirty="0">
                <a:solidFill>
                  <a:srgbClr val="121720"/>
                </a:solidFill>
                <a:latin typeface="Aptos"/>
              </a:rPr>
              <a:t>The system shows not only which device is critical, but the graph evidence behind the classification and the connectivity impact after failure.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572768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84464" y="1719072"/>
            <a:ext cx="30998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7D4C"/>
                </a:solidFill>
                <a:latin typeface="Aptos"/>
              </a:rPr>
              <a:t>UNIQUE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057400"/>
            <a:ext cx="3099816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21720"/>
                </a:solidFill>
                <a:latin typeface="Aptos"/>
              </a:rPr>
              <a:t>Topology → DFS → low-link reasoning → articulation/bridge detection → biconnected structure → failure simulation.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794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48A6"/>
                </a:solidFill>
                <a:latin typeface="Aptos"/>
              </a:rPr>
              <a:t>KEY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605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21720"/>
                </a:solidFill>
                <a:latin typeface="Aptos"/>
              </a:defRPr>
            </a:pPr>
            <a:r>
              <a:t>• Interactive topology builder for routers, switches, servers, gateways and databases.</a:t>
            </a:r>
          </a:p>
          <a:p>
            <a:pPr>
              <a:spcAft>
                <a:spcPts val="800"/>
              </a:spcAft>
              <a:defRPr sz="1300">
                <a:solidFill>
                  <a:srgbClr val="121720"/>
                </a:solidFill>
                <a:latin typeface="Aptos"/>
              </a:defRPr>
            </a:pPr>
            <a:r>
              <a:t>• DFS traversal, discovery, low and parent values.</a:t>
            </a:r>
          </a:p>
          <a:p>
            <a:pPr>
              <a:spcAft>
                <a:spcPts val="800"/>
              </a:spcAft>
              <a:defRPr sz="1300">
                <a:solidFill>
                  <a:srgbClr val="121720"/>
                </a:solidFill>
                <a:latin typeface="Aptos"/>
              </a:defRPr>
            </a:pPr>
            <a:r>
              <a:t>• Articulation points, bridges, connected and biconnected components.</a:t>
            </a:r>
          </a:p>
          <a:p>
            <a:pPr>
              <a:spcAft>
                <a:spcPts val="800"/>
              </a:spcAft>
              <a:defRPr sz="1300">
                <a:solidFill>
                  <a:srgbClr val="121720"/>
                </a:solidFill>
                <a:latin typeface="Aptos"/>
              </a:defRPr>
            </a:pPr>
            <a:r>
              <a:t>• Before/after failure analysis with network restoration.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48A6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83464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1720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813816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56C78"/>
                </a:solidFill>
                <a:latin typeface="Aptos"/>
              </a:rPr>
              <a:t>The user journey follows the same logical pipeline as the algorithm.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43584"/>
            <a:ext cx="10972800" cy="10972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874519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975104"/>
            <a:ext cx="15453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48A6"/>
                </a:solidFill>
                <a:latin typeface="Aptos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313432"/>
            <a:ext cx="1545336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21720"/>
                </a:solidFill>
                <a:latin typeface="Aptos"/>
              </a:rPr>
              <a:t>Build topology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2677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A48A6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828800"/>
            <a:ext cx="1874519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44952" y="1975104"/>
            <a:ext cx="15453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48A6"/>
                </a:solidFill>
                <a:latin typeface="Aptos"/>
              </a:rPr>
              <a:t>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2313432"/>
            <a:ext cx="1545336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21720"/>
                </a:solidFill>
                <a:latin typeface="Aptos"/>
              </a:rPr>
              <a:t>Adjacency 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2677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A48A6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1828800"/>
            <a:ext cx="1874519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85231" y="1975104"/>
            <a:ext cx="15453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48A6"/>
                </a:solidFill>
                <a:latin typeface="Aptos"/>
              </a:rPr>
              <a:t>DFS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5231" y="2313432"/>
            <a:ext cx="1545336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21720"/>
                </a:solidFill>
                <a:latin typeface="Aptos"/>
              </a:rPr>
              <a:t>Traverse + 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2677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A48A6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1828800"/>
            <a:ext cx="1874519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25512" y="1975104"/>
            <a:ext cx="15453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48A6"/>
                </a:solidFill>
                <a:latin typeface="Aptos"/>
              </a:rPr>
              <a:t>ANALYZE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5512" y="2313432"/>
            <a:ext cx="1545336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21720"/>
                </a:solidFill>
                <a:latin typeface="Aptos"/>
              </a:rPr>
              <a:t>Low-link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2677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A48A6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1828800"/>
            <a:ext cx="1874519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65792" y="1975104"/>
            <a:ext cx="15453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93737"/>
                </a:solidFill>
                <a:latin typeface="Aptos"/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5792" y="2313432"/>
            <a:ext cx="1545336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21720"/>
                </a:solidFill>
                <a:latin typeface="Aptos"/>
              </a:rPr>
              <a:t>Criticality + 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886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48A6"/>
                </a:solidFill>
                <a:latin typeface="Aptos"/>
              </a:rPr>
              <a:t>USER JOURNEY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279392"/>
            <a:ext cx="10515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21720"/>
                </a:solidFill>
                <a:latin typeface="Aptos"/>
              </a:defRPr>
            </a:pPr>
            <a:r>
              <a:t>• 1. Add devices and connect them on the topology canvas.</a:t>
            </a:r>
          </a:p>
          <a:p>
            <a:pPr>
              <a:spcAft>
                <a:spcPts val="800"/>
              </a:spcAft>
              <a:defRPr sz="1300">
                <a:solidFill>
                  <a:srgbClr val="121720"/>
                </a:solidFill>
                <a:latin typeface="Aptos"/>
              </a:defRPr>
            </a:pPr>
            <a:r>
              <a:t>• 2. Click Analyze Network.</a:t>
            </a:r>
          </a:p>
          <a:p>
            <a:pPr>
              <a:spcAft>
                <a:spcPts val="800"/>
              </a:spcAft>
              <a:defRPr sz="1300">
                <a:solidFill>
                  <a:srgbClr val="121720"/>
                </a:solidFill>
                <a:latin typeface="Aptos"/>
              </a:defRPr>
            </a:pPr>
            <a:r>
              <a:t>• 3. Observe DFS traversal, discovery/low values and structural components.</a:t>
            </a:r>
          </a:p>
          <a:p>
            <a:pPr>
              <a:spcAft>
                <a:spcPts val="800"/>
              </a:spcAft>
              <a:defRPr sz="1300">
                <a:solidFill>
                  <a:srgbClr val="121720"/>
                </a:solidFill>
                <a:latin typeface="Aptos"/>
              </a:defRPr>
            </a:pPr>
            <a:r>
              <a:t>• 4. Select a critical device and simulate failure.</a:t>
            </a:r>
          </a:p>
          <a:p>
            <a:pPr>
              <a:spcAft>
                <a:spcPts val="800"/>
              </a:spcAft>
              <a:defRPr sz="1300">
                <a:solidFill>
                  <a:srgbClr val="121720"/>
                </a:solidFill>
                <a:latin typeface="Aptos"/>
              </a:defRPr>
            </a:pPr>
            <a:r>
              <a:t>• 5. Compare connected regions before and after failure; restore the topology.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48A6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83464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1720"/>
                </a:solidFill>
                <a:latin typeface="Aptos"/>
              </a:rPr>
              <a:t>Technology &amp;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813816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56C78"/>
                </a:solidFill>
                <a:latin typeface="Aptos"/>
              </a:rPr>
              <a:t>A modular stack keeps the DAA engine independent from the interactive presentation layer.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43584"/>
            <a:ext cx="10972800" cy="10972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719072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48A6"/>
                </a:solidFill>
                <a:latin typeface="Aptos"/>
              </a:rPr>
              <a:t>TECH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57400"/>
            <a:ext cx="305409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21720"/>
                </a:solidFill>
                <a:latin typeface="Aptos"/>
              </a:rPr>
              <a:t>Frontend: React + TypeScript + Vite
Graph UI: React Flow
Backend: Python + FastAPI
Testing: Pytest
Data: 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572768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719072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48A6"/>
                </a:solidFill>
                <a:latin typeface="Aptos"/>
              </a:rPr>
              <a:t>MAIN ALGORITHMS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57400"/>
            <a:ext cx="305409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21720"/>
                </a:solidFill>
                <a:latin typeface="Aptos"/>
              </a:rPr>
              <a:t>Depth-First Search
Articulation-point detection
Bridge detection
Connected components
Biconnected components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572768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1719072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7D4C"/>
                </a:solidFill>
                <a:latin typeface="Aptos"/>
              </a:rPr>
              <a:t>WHY THESE ALGORITHMS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057400"/>
            <a:ext cx="305409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21720"/>
                </a:solidFill>
                <a:latin typeface="Aptos"/>
              </a:rPr>
              <a:t>DFS naturally exposes the DFS tree and back edges needed for low-link reasoning. This enables linear-time structural analysis.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86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48A6"/>
                </a:solidFill>
                <a:latin typeface="Aptos"/>
              </a:rPr>
              <a:t>COMPLEXITY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343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1720"/>
                </a:solidFill>
                <a:latin typeface="Aptos"/>
              </a:rPr>
              <a:t>DFS: O(V + E)     Articulation: O(V + E)     Bridges: O(V + E)     Components: O(V + E)     Biconnected: O(V + 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983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56C78"/>
                </a:solidFill>
                <a:latin typeface="Aptos"/>
              </a:rPr>
              <a:t>For sparse network graphs, adjacency lists provide O(V + E) storage.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532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21720"/>
                </a:solidFill>
                <a:latin typeface="Aptos"/>
              </a:rPr>
              <a:t>Key condition: for DFS child v of u, low[v] ≥ discovery[u] indicates an articulation point (with the standard root exception).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48A6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83464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1720"/>
                </a:solidFill>
                <a:latin typeface="Aptos"/>
              </a:rPr>
              <a:t>Demo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813816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56C78"/>
                </a:solidFill>
                <a:latin typeface="Aptos"/>
              </a:rPr>
              <a:t>The demonstration connects the algorithmic result directly to a visible network consequence.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43584"/>
            <a:ext cx="10972800" cy="10972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48640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48A6"/>
                </a:solidFill>
                <a:latin typeface="Aptos"/>
              </a:rPr>
              <a:t>DEMO TOPOLOGY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2331720"/>
            <a:ext cx="1234440" cy="594360"/>
          </a:xfrm>
          <a:prstGeom prst="roundRect">
            <a:avLst/>
          </a:prstGeom>
          <a:solidFill>
            <a:srgbClr val="F9FAFC"/>
          </a:solidFill>
          <a:ln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61872" y="2514600"/>
            <a:ext cx="1078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121720"/>
                </a:solidFill>
                <a:latin typeface="Aptos"/>
              </a:rPr>
              <a:t>Gateway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2331720"/>
            <a:ext cx="1234440" cy="594360"/>
          </a:xfrm>
          <a:prstGeom prst="roundRect">
            <a:avLst/>
          </a:prstGeom>
          <a:solidFill>
            <a:srgbClr val="F9FAFC"/>
          </a:solidFill>
          <a:ln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62072" y="2514600"/>
            <a:ext cx="1078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121720"/>
                </a:solidFill>
                <a:latin typeface="Aptos"/>
              </a:rPr>
              <a:t>Core Router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331720"/>
            <a:ext cx="1234440" cy="594360"/>
          </a:xfrm>
          <a:prstGeom prst="roundRect">
            <a:avLst/>
          </a:prstGeom>
          <a:solidFill>
            <a:srgbClr val="F9FAFC"/>
          </a:solidFill>
          <a:ln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62272" y="2514600"/>
            <a:ext cx="1078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121720"/>
                </a:solidFill>
                <a:latin typeface="Aptos"/>
              </a:rPr>
              <a:t>Core Switch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3794760"/>
            <a:ext cx="1234440" cy="594360"/>
          </a:xfrm>
          <a:prstGeom prst="roundRect">
            <a:avLst/>
          </a:prstGeom>
          <a:solidFill>
            <a:srgbClr val="F9FAFC"/>
          </a:solidFill>
          <a:ln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62072" y="3977640"/>
            <a:ext cx="1078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121720"/>
                </a:solidFill>
                <a:latin typeface="Aptos"/>
              </a:rPr>
              <a:t>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794760"/>
            <a:ext cx="1234440" cy="594360"/>
          </a:xfrm>
          <a:prstGeom prst="roundRect">
            <a:avLst/>
          </a:prstGeom>
          <a:solidFill>
            <a:srgbClr val="F9FAFC"/>
          </a:solidFill>
          <a:ln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62272" y="3977640"/>
            <a:ext cx="1078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121720"/>
                </a:solidFill>
                <a:latin typeface="Aptos"/>
              </a:rPr>
              <a:t>Database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3160" y="2633472"/>
            <a:ext cx="365759" cy="13716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023360" y="2633472"/>
            <a:ext cx="365759" cy="13716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401568" y="2926080"/>
            <a:ext cx="18288" cy="18288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01768" y="2926080"/>
            <a:ext cx="18288" cy="18288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023360" y="2633472"/>
            <a:ext cx="978407" cy="18288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46520" y="1554480"/>
            <a:ext cx="2423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1112" y="1700784"/>
            <a:ext cx="2093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93737"/>
                </a:solidFill>
                <a:latin typeface="Aptos"/>
              </a:rPr>
              <a:t>SAMPLE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1112" y="2039112"/>
            <a:ext cx="2093976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21720"/>
                </a:solidFill>
                <a:latin typeface="Aptos"/>
              </a:rPr>
              <a:t>Critical device identified from DFS low-link condition.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1554480"/>
            <a:ext cx="2423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62872" y="1700784"/>
            <a:ext cx="2093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7D4C"/>
                </a:solidFill>
                <a:latin typeface="Aptos"/>
              </a:rPr>
              <a:t>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2872" y="2039112"/>
            <a:ext cx="2093976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21720"/>
                </a:solidFill>
                <a:latin typeface="Aptos"/>
              </a:rPr>
              <a:t>32 automated backend tests passed.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3246120"/>
            <a:ext cx="5074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11112" y="3392424"/>
            <a:ext cx="47457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93737"/>
                </a:solidFill>
                <a:latin typeface="Aptos"/>
              </a:rPr>
              <a:t>FAILURE 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1112" y="3730752"/>
            <a:ext cx="4745736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21720"/>
                </a:solidFill>
                <a:latin typeface="Aptos"/>
              </a:rPr>
              <a:t>Remove the articulation point → recompute connected components → observe the increase in disconnected regions → restore topology.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20" y="4892040"/>
            <a:ext cx="50749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11112" y="5038344"/>
            <a:ext cx="47457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48A6"/>
                </a:solidFill>
                <a:latin typeface="Aptos"/>
              </a:rPr>
              <a:t>PRACTICAL BENEFIT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11112" y="5376672"/>
            <a:ext cx="4745736" cy="10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21720"/>
                </a:solidFill>
                <a:latin typeface="Aptos"/>
              </a:rPr>
              <a:t>Makes graph-theoretic resilience visible and explainable.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48A6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83464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1720"/>
                </a:solidFill>
                <a:latin typeface="Aptos"/>
              </a:rPr>
              <a:t>Future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813816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56C78"/>
                </a:solidFill>
                <a:latin typeface="Aptos"/>
              </a:rPr>
              <a:t>From a deterministic academic prototype toward infrastructure-aware resilience experimentation.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43584"/>
            <a:ext cx="10972800" cy="10972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719072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7D4C"/>
                </a:solidFill>
                <a:latin typeface="Aptos"/>
              </a:rPr>
              <a:t>CURRENT ACHIEVEMENT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57400"/>
            <a:ext cx="3054096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21720"/>
                </a:solidFill>
                <a:latin typeface="Aptos"/>
              </a:rPr>
              <a:t>Working graph-analysis prototype with interactive topology, DFS-based structural analysis, component detection, API integration and automated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572768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719072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48A6"/>
                </a:solidFill>
                <a:latin typeface="Aptos"/>
              </a:rPr>
              <a:t>NEXT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57400"/>
            <a:ext cx="3054096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21720"/>
                </a:solidFill>
                <a:latin typeface="Aptos"/>
              </a:rPr>
              <a:t>Animated DFS playback: show every visit, backtrack, discovery/low update and articulation decision in real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572768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1719072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48A6"/>
                </a:solidFill>
                <a:latin typeface="Aptos"/>
              </a:rPr>
              <a:t>SCALABILITY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057400"/>
            <a:ext cx="3054096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21720"/>
                </a:solidFill>
                <a:latin typeface="Aptos"/>
              </a:rPr>
              <a:t>Support larger graphs, weighted/directed networks, progressive rendering and server-side analysis.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40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48A6"/>
                </a:solidFill>
                <a:latin typeface="Aptos"/>
              </a:rPr>
              <a:t>FUTURE DIRECTION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24528"/>
            <a:ext cx="5577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21720"/>
                </a:solidFill>
                <a:latin typeface="Aptos"/>
              </a:defRPr>
            </a:pPr>
            <a:r>
              <a:t>• Live connectors through SNMP, cloud APIs or infrastructure agents.</a:t>
            </a:r>
          </a:p>
          <a:p>
            <a:pPr>
              <a:spcAft>
                <a:spcPts val="800"/>
              </a:spcAft>
              <a:defRPr sz="1300">
                <a:solidFill>
                  <a:srgbClr val="121720"/>
                </a:solidFill>
                <a:latin typeface="Aptos"/>
              </a:defRPr>
            </a:pPr>
            <a:r>
              <a:t>• Redundancy experiments and alternative-path analysis.</a:t>
            </a:r>
          </a:p>
          <a:p>
            <a:pPr>
              <a:spcAft>
                <a:spcPts val="800"/>
              </a:spcAft>
              <a:defRPr sz="1300">
                <a:solidFill>
                  <a:srgbClr val="121720"/>
                </a:solidFill>
                <a:latin typeface="Aptos"/>
              </a:defRPr>
            </a:pPr>
            <a:r>
              <a:t>• Historical topology snapshots and resilience trends.</a:t>
            </a:r>
          </a:p>
          <a:p>
            <a:pPr>
              <a:spcAft>
                <a:spcPts val="800"/>
              </a:spcAft>
              <a:defRPr sz="1300">
                <a:solidFill>
                  <a:srgbClr val="121720"/>
                </a:solidFill>
                <a:latin typeface="Aptos"/>
              </a:defRPr>
            </a:pPr>
            <a:r>
              <a:t>• Operational integrations with strict separation between analysis and control.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840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93737"/>
                </a:solidFill>
                <a:latin typeface="Aptos"/>
              </a:rPr>
              <a:t>FINAL TAKEAWAY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425196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1720"/>
                </a:solidFill>
                <a:latin typeface="Aptos"/>
              </a:rPr>
              <a:t>“We do not just tell the user which device is critical. We explain why the graph makes it critical and demonstrate what changes when that device fails.”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5623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A48A6"/>
                </a:solidFill>
                <a:latin typeface="Aptos"/>
              </a:rPr>
              <a:t>THANK YOU  • 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865</Words>
  <Application>Microsoft Office PowerPoint</Application>
  <PresentationFormat>Widescreen</PresentationFormat>
  <Paragraphs>118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Adelle</vt:lpstr>
      <vt:lpstr>Aptos</vt:lpstr>
      <vt:lpstr>Arial</vt:lpstr>
      <vt:lpstr>Calibri</vt:lpstr>
      <vt:lpstr>NeuzeitGro</vt:lpstr>
      <vt:lpstr>Source Sans Pro</vt:lpstr>
      <vt:lpstr>Office Theme</vt:lpstr>
      <vt:lpstr>BICONNECTED NETWORK ANALYZER: A GUIDE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Himesh Bathula</dc:creator>
  <cp:keywords/>
  <dc:description>generated using python-pptx</dc:description>
  <cp:lastModifiedBy>Himesh Bathula</cp:lastModifiedBy>
  <cp:revision>2</cp:revision>
  <dcterms:created xsi:type="dcterms:W3CDTF">2013-01-27T09:14:16Z</dcterms:created>
  <dcterms:modified xsi:type="dcterms:W3CDTF">2026-10-03T07:22:05Z</dcterms:modified>
  <cp:category/>
</cp:coreProperties>
</file>